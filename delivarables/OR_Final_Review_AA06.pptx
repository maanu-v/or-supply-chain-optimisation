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1</a:t>
            </a:r>
          </a:p>
        </p:txBody>
      </p:sp>
      <p:pic>
        <p:nvPicPr>
          <p:cNvPr id="3" name="Picture 2" descr="amrit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367" y="457200"/>
            <a:ext cx="5394960" cy="1216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74519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00000"/>
                </a:solidFill>
                <a:latin typeface="Poppins"/>
              </a:rPr>
              <a:t>23MNG336 - OPERATIONS RESEARCH  |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331720"/>
            <a:ext cx="7799831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000000"/>
                </a:solidFill>
                <a:latin typeface="Poppins"/>
              </a:rPr>
              <a:t>Optimization of Semiconductor Supply Chain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908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000000"/>
                </a:solidFill>
                <a:latin typeface="Karla"/>
              </a:rPr>
              <a:t>School of Artificial Intelligence</a:t>
            </a:r>
          </a:p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000000"/>
                </a:solidFill>
                <a:latin typeface="Karla"/>
              </a:rPr>
              <a:t>Amrita Vishwa Vidyapeetham, Coimbatore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000000"/>
                </a:solidFill>
                <a:latin typeface="Poppins"/>
              </a:rPr>
              <a:t>TEAM AA06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498348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Karla"/>
              </a:rPr>
              <a:t>Aksaya Kanthan K S</a:t>
            </a:r>
          </a:p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Karla"/>
              </a:rPr>
              <a:t>[CB.AI.U4AID23003]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127" y="498348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Karla"/>
              </a:rPr>
              <a:t>Kiruthik Nandhan Murthi</a:t>
            </a:r>
          </a:p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Karla"/>
              </a:rPr>
              <a:t>[CB.AI.U4AID23018]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8" y="498348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Karla"/>
              </a:rPr>
              <a:t>Manasa V</a:t>
            </a:r>
          </a:p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Karla"/>
              </a:rPr>
              <a:t>[CB.AI.U4AID23022]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7" y="498348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Karla"/>
              </a:rPr>
              <a:t>Rithvik Rajesh</a:t>
            </a:r>
          </a:p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Karla"/>
              </a:rPr>
              <a:t>[CB.AI.U4AID23032]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0000"/>
                </a:solidFill>
                <a:latin typeface="Poppins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Karla"/>
              </a:rPr>
              <a:t>A global microchip producer must fulfil thousands of customer orders through its outbound logistics network.</a:t>
            </a:r>
          </a:p>
          <a:p>
            <a:pPr marL="274320" indent="-256032">
              <a:lnSpc>
                <a:spcPct val="115000"/>
              </a:lnSpc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Karla"/>
              </a:rPr>
              <a:t>Each order can be routed through several warehouses, origin ports and transportation carriers.</a:t>
            </a:r>
          </a:p>
          <a:p>
            <a:pPr marL="274320" indent="-256032">
              <a:lnSpc>
                <a:spcPct val="115000"/>
              </a:lnSpc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Karla"/>
              </a:rPr>
              <a:t>Every warehouse has limited daily capacity, a restricted product range and customer-specific restrictions.</a:t>
            </a:r>
          </a:p>
          <a:p>
            <a:pPr marL="274320" indent="-256032">
              <a:lnSpc>
                <a:spcPct val="115000"/>
              </a:lnSpc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Karla"/>
              </a:rPr>
              <a:t>Transportation options differ in cost, weight-based pricing, service level and mode.</a:t>
            </a:r>
          </a:p>
          <a:p>
            <a:pPr marL="274320" indent="-256032">
              <a:lnSpc>
                <a:spcPct val="115000"/>
              </a:lnSpc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Karla"/>
              </a:rPr>
              <a:t>This project finds cost-effective, feasible logistics decisions that satisfy all customer demand and every operational constraint.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0000"/>
                </a:solidFill>
                <a:latin typeface="Poppin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Karla"/>
              </a:rPr>
              <a:t>Every order must be assigned exactly one warehouse, one origin port and one carrier.</a:t>
            </a:r>
          </a:p>
          <a:p>
            <a:pPr marL="274320" indent="-256032">
              <a:lnSpc>
                <a:spcPct val="115000"/>
              </a:lnSpc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Karla"/>
              </a:rPr>
              <a:t>The assignment must respect warehouse capacity, product availability, customer restrictions and port connectivity.</a:t>
            </a:r>
          </a:p>
          <a:p>
            <a:pPr marL="274320" indent="-256032">
              <a:lnSpc>
                <a:spcPct val="115000"/>
              </a:lnSpc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Karla"/>
              </a:rPr>
              <a:t>The historical dataset records what was done, not what was optimal: almost all volume sits on one warehouse, one port and one carrier.</a:t>
            </a:r>
          </a:p>
          <a:p>
            <a:pPr marL="274320" indent="-256032">
              <a:lnSpc>
                <a:spcPct val="115000"/>
              </a:lnSpc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Karla"/>
              </a:rPr>
              <a:t>With 19 warehouses, 11 ports and 9 carriers an order can have hundreds of feasible routes, so manual selection is not practical.</a:t>
            </a:r>
          </a:p>
          <a:p>
            <a:pPr marL="274320" indent="-256032">
              <a:lnSpc>
                <a:spcPct val="115000"/>
              </a:lnSpc>
              <a:spcAft>
                <a:spcPts val="1600"/>
              </a:spcAft>
              <a:buChar char="•"/>
            </a:pPr>
            <a:r>
              <a:rPr sz="1900" b="1" i="0">
                <a:solidFill>
                  <a:srgbClr val="000000"/>
                </a:solidFill>
                <a:latin typeface="Karla"/>
              </a:rPr>
              <a:t>Problem to Address: </a:t>
            </a:r>
            <a:r>
              <a:rPr sz="1900" b="0" i="0">
                <a:solidFill>
                  <a:srgbClr val="000000"/>
                </a:solidFill>
                <a:latin typeface="Karla"/>
              </a:rPr>
              <a:t>How can the warehouse, origin port and carrier of every order be chosen so that total logistics cost is minimised while every operational constraint is satisfied?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0000"/>
                </a:solidFill>
                <a:latin typeface="Poppins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900" b="1" i="0">
                <a:solidFill>
                  <a:srgbClr val="000000"/>
                </a:solidFill>
                <a:latin typeface="Karla"/>
              </a:rPr>
              <a:t>Network Profiling: </a:t>
            </a:r>
            <a:r>
              <a:rPr sz="1900" b="0" i="0">
                <a:solidFill>
                  <a:srgbClr val="000000"/>
                </a:solidFill>
                <a:latin typeface="Karla"/>
              </a:rPr>
              <a:t>Analyse the historical outbound logistics dataset and profile the existing network.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900" b="1" i="0">
                <a:solidFill>
                  <a:srgbClr val="000000"/>
                </a:solidFill>
                <a:latin typeface="Karla"/>
              </a:rPr>
              <a:t>Feasible Routing: </a:t>
            </a:r>
            <a:r>
              <a:rPr sz="1900" b="0" i="0">
                <a:solidFill>
                  <a:srgbClr val="000000"/>
                </a:solidFill>
                <a:latin typeface="Karla"/>
              </a:rPr>
              <a:t>Identify the feasible warehouse - port - carrier routes available to every order.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900" b="1" i="0">
                <a:solidFill>
                  <a:srgbClr val="000000"/>
                </a:solidFill>
                <a:latin typeface="Karla"/>
              </a:rPr>
              <a:t>Cost Minimisation: </a:t>
            </a:r>
            <a:r>
              <a:rPr sz="1900" b="0" i="0">
                <a:solidFill>
                  <a:srgbClr val="000000"/>
                </a:solidFill>
                <a:latin typeface="Karla"/>
              </a:rPr>
              <a:t>Formulate an integer programme that minimises total warehouse and transportation cost.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900" b="1" i="0">
                <a:solidFill>
                  <a:srgbClr val="000000"/>
                </a:solidFill>
                <a:latin typeface="Karla"/>
              </a:rPr>
              <a:t>Cost vs Delivery Time: </a:t>
            </a:r>
            <a:r>
              <a:rPr sz="1900" b="0" i="0">
                <a:solidFill>
                  <a:srgbClr val="000000"/>
                </a:solidFill>
                <a:latin typeface="Karla"/>
              </a:rPr>
              <a:t>Use goal programming to balance logistics cost against delivery time.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900" b="1" i="0">
                <a:solidFill>
                  <a:srgbClr val="000000"/>
                </a:solidFill>
                <a:latin typeface="Karla"/>
              </a:rPr>
              <a:t>Robustness: </a:t>
            </a:r>
            <a:r>
              <a:rPr sz="1900" b="0" i="0">
                <a:solidFill>
                  <a:srgbClr val="000000"/>
                </a:solidFill>
                <a:latin typeface="Karla"/>
              </a:rPr>
              <a:t>Test the solution through sensitivity and what-if analysis.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900" b="1" i="0">
                <a:solidFill>
                  <a:srgbClr val="000000"/>
                </a:solidFill>
                <a:latin typeface="Karla"/>
              </a:rPr>
              <a:t>Decision Support: </a:t>
            </a:r>
            <a:r>
              <a:rPr sz="1900" b="0" i="0">
                <a:solidFill>
                  <a:srgbClr val="000000"/>
                </a:solidFill>
                <a:latin typeface="Karla"/>
              </a:rPr>
              <a:t>Deliver an interactive web interface for single-order and bulk-order planning.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0000"/>
                </a:solidFill>
                <a:latin typeface="Poppins"/>
              </a:rPr>
              <a:t>DATASET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4805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500" b="1" i="0">
                <a:solidFill>
                  <a:srgbClr val="000000"/>
                </a:solidFill>
                <a:latin typeface="Karla"/>
              </a:rPr>
              <a:t>Supply Chain Logistics Problem Dataset</a:t>
            </a:r>
            <a:r>
              <a:rPr sz="1500" b="0" i="0">
                <a:solidFill>
                  <a:srgbClr val="000000"/>
                </a:solidFill>
                <a:latin typeface="Karla"/>
              </a:rPr>
              <a:t/>
            </a:r>
          </a:p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500" b="1" i="0">
                <a:solidFill>
                  <a:srgbClr val="000000"/>
                </a:solidFill>
                <a:latin typeface="Karla"/>
              </a:rPr>
              <a:t>Source: </a:t>
            </a:r>
            <a:r>
              <a:rPr sz="1500" b="0" i="0">
                <a:solidFill>
                  <a:srgbClr val="000000"/>
                </a:solidFill>
                <a:latin typeface="Karla"/>
              </a:rPr>
              <a:t>Brunel University London (Kaggle)</a:t>
            </a:r>
          </a:p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500" b="1" i="0">
                <a:solidFill>
                  <a:srgbClr val="000000"/>
                </a:solidFill>
                <a:latin typeface="Karla"/>
              </a:rPr>
              <a:t>Scope: </a:t>
            </a:r>
            <a:r>
              <a:rPr sz="1500" b="0" i="0">
                <a:solidFill>
                  <a:srgbClr val="000000"/>
                </a:solidFill>
                <a:latin typeface="Karla"/>
              </a:rPr>
              <a:t>one month of outbound orders of a global microchip producer</a:t>
            </a:r>
          </a:p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500" b="1" i="0">
                <a:solidFill>
                  <a:srgbClr val="000000"/>
                </a:solidFill>
                <a:latin typeface="Karla"/>
              </a:rPr>
              <a:t>Structure: </a:t>
            </a:r>
            <a:r>
              <a:rPr sz="1500" b="0" i="0">
                <a:solidFill>
                  <a:srgbClr val="000000"/>
                </a:solidFill>
                <a:latin typeface="Karla"/>
              </a:rPr>
              <a:t>7 related tables</a:t>
            </a:r>
          </a:p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500" b="1" i="0">
                <a:solidFill>
                  <a:srgbClr val="000000"/>
                </a:solidFill>
                <a:latin typeface="Karla"/>
              </a:rPr>
              <a:t>Demand: </a:t>
            </a:r>
            <a:r>
              <a:rPr sz="1500" b="0" i="0">
                <a:solidFill>
                  <a:srgbClr val="000000"/>
                </a:solidFill>
                <a:latin typeface="Karla"/>
              </a:rPr>
              <a:t>9,215 orders, 46 customers, 772 products</a:t>
            </a:r>
          </a:p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500" b="1" i="0">
                <a:solidFill>
                  <a:srgbClr val="000000"/>
                </a:solidFill>
                <a:latin typeface="Karla"/>
              </a:rPr>
              <a:t>Network: </a:t>
            </a:r>
            <a:r>
              <a:rPr sz="1500" b="0" i="0">
                <a:solidFill>
                  <a:srgbClr val="000000"/>
                </a:solidFill>
                <a:latin typeface="Karla"/>
              </a:rPr>
              <a:t>19 warehouses, 11 origin ports, 1 destination port</a:t>
            </a:r>
          </a:p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500" b="1" i="0">
                <a:solidFill>
                  <a:srgbClr val="000000"/>
                </a:solidFill>
                <a:latin typeface="Karla"/>
              </a:rPr>
              <a:t>Freight: </a:t>
            </a:r>
            <a:r>
              <a:rPr sz="1500" b="0" i="0">
                <a:solidFill>
                  <a:srgbClr val="000000"/>
                </a:solidFill>
                <a:latin typeface="Karla"/>
              </a:rPr>
              <a:t>9 carriers, 3 service levels (DTD, DTP, CRF), air and ground modes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49240" y="1371600"/>
          <a:ext cx="6217920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83080"/>
                <a:gridCol w="777240"/>
                <a:gridCol w="36576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000000"/>
                          </a:solidFill>
                          <a:latin typeface="Karla"/>
                        </a:rPr>
                        <a:t>DATASET TABLE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000000"/>
                          </a:solidFill>
                          <a:latin typeface="Karla"/>
                        </a:rPr>
                        <a:t>ROWS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000000"/>
                          </a:solidFill>
                          <a:latin typeface="Karla"/>
                        </a:rPr>
                        <a:t>WHAT IT DESCRIBES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OrderList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9,215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Customer demand: weight, service level, dates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FreightRates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1,540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Carrier lane rates by weight band and service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WhCosts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19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Storage cost per unit at each warehouse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WhCapacities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19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Daily order-handling capacity of each warehouse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ProductsPerPlant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2,036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Products each warehouse is able to ship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VmiCustomers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14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Customers restricted to specific warehouses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PlantPorts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22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Warehouse to origin-port connectivity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5321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00000"/>
                </a:solidFill>
                <a:latin typeface="Karla"/>
              </a:rPr>
              <a:t>OrderList alone cannot be optimised: the cost, feasibility and capacity information lives in the other six tables, and every join acts as a feasibility filter.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0000"/>
                </a:solidFill>
                <a:latin typeface="Poppins"/>
              </a:rPr>
              <a:t>CONSTRAINTS IN THE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630936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Every order needs exactly one warehouse, origin port and carrier.</a:t>
            </a:r>
          </a:p>
          <a:p>
            <a:pPr marL="274320" indent="-256032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Warehouse daily capacity is limited and varies from 7 to over 1,000 orders.</a:t>
            </a:r>
          </a:p>
          <a:p>
            <a:pPr marL="274320" indent="-256032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Not every warehouse stocks every product (ProductsPerPlant).</a:t>
            </a:r>
          </a:p>
          <a:p>
            <a:pPr marL="274320" indent="-256032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Some customers may only be served by specific warehouses (VmiCustomers).</a:t>
            </a:r>
          </a:p>
          <a:p>
            <a:pPr marL="274320" indent="-256032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Not every warehouse is connected to every origin port (PlantPorts).</a:t>
            </a:r>
          </a:p>
          <a:p>
            <a:pPr marL="274320" indent="-256032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Not every carrier operates on every lane (FreightRates).</a:t>
            </a:r>
          </a:p>
          <a:p>
            <a:pPr marL="274320" indent="-256032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Freight cost depends on the weight band, with a minimum charge.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71600"/>
            <a:ext cx="3931920" cy="603504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All orders x all routes</a:t>
            </a:r>
          </a:p>
          <a:p>
            <a:pPr algn="ctr"/>
            <a:r>
              <a:rPr sz="1200" b="0" i="0">
                <a:solidFill>
                  <a:srgbClr val="555555"/>
                </a:solidFill>
                <a:latin typeface="Karla"/>
              </a:rPr>
              <a:t>17.3 million raw combinations</a:t>
            </a:r>
          </a:p>
        </p:txBody>
      </p:sp>
      <p:sp>
        <p:nvSpPr>
          <p:cNvPr id="6" name="Down Arrow 5"/>
          <p:cNvSpPr/>
          <p:nvPr/>
        </p:nvSpPr>
        <p:spPr>
          <a:xfrm>
            <a:off x="9418320" y="2011680"/>
            <a:ext cx="182880" cy="219456"/>
          </a:xfrm>
          <a:prstGeom prst="down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43800" y="2267712"/>
            <a:ext cx="3931920" cy="60350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Product and customer eligibility</a:t>
            </a:r>
          </a:p>
        </p:txBody>
      </p:sp>
      <p:sp>
        <p:nvSpPr>
          <p:cNvPr id="8" name="Down Arrow 7"/>
          <p:cNvSpPr/>
          <p:nvPr/>
        </p:nvSpPr>
        <p:spPr>
          <a:xfrm>
            <a:off x="9418320" y="2907792"/>
            <a:ext cx="182880" cy="219456"/>
          </a:xfrm>
          <a:prstGeom prst="down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43800" y="3163824"/>
            <a:ext cx="3931920" cy="60350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Warehouse - port connectivity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418320" y="3803904"/>
            <a:ext cx="182880" cy="219456"/>
          </a:xfrm>
          <a:prstGeom prst="down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43800" y="4059935"/>
            <a:ext cx="3931920" cy="60350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Carrier lane and weight band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418320" y="4700016"/>
            <a:ext cx="182880" cy="219456"/>
          </a:xfrm>
          <a:prstGeom prst="down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43800" y="4956048"/>
            <a:ext cx="3931920" cy="603504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125,887 feasible routes</a:t>
            </a:r>
          </a:p>
          <a:p>
            <a:pPr algn="ctr"/>
            <a:r>
              <a:rPr sz="1200" b="0" i="0">
                <a:solidFill>
                  <a:srgbClr val="555555"/>
                </a:solidFill>
                <a:latin typeface="Karla"/>
              </a:rPr>
              <a:t>input to the optimisation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58978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55555"/>
                </a:solidFill>
                <a:latin typeface="Karla"/>
              </a:rPr>
              <a:t>Narrowing the solution space before optimisation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0000"/>
                </a:solidFill>
                <a:latin typeface="Poppins"/>
              </a:rP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6607" y="1600200"/>
            <a:ext cx="2331720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Workbook Parsing</a:t>
            </a:r>
          </a:p>
          <a:p>
            <a:pPr algn="ctr"/>
            <a:r>
              <a:rPr sz="1200" b="0" i="0">
                <a:solidFill>
                  <a:srgbClr val="555555"/>
                </a:solidFill>
                <a:latin typeface="Karla"/>
              </a:rPr>
              <a:t>seven dataset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6607" y="3429000"/>
            <a:ext cx="2331720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Decision Support System</a:t>
            </a:r>
          </a:p>
          <a:p>
            <a:pPr algn="ctr"/>
            <a:r>
              <a:rPr sz="1200" b="0" i="0">
                <a:solidFill>
                  <a:srgbClr val="555555"/>
                </a:solidFill>
                <a:latin typeface="Karla"/>
              </a:rPr>
              <a:t>web interface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1479" y="2025396"/>
            <a:ext cx="310896" cy="20116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ft Arrow 6"/>
          <p:cNvSpPr/>
          <p:nvPr/>
        </p:nvSpPr>
        <p:spPr>
          <a:xfrm>
            <a:off x="3151479" y="3854196"/>
            <a:ext cx="310896" cy="201168"/>
          </a:xfrm>
          <a:prstGeom prst="lef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35527" y="1600200"/>
            <a:ext cx="2331720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Feasible Route Generation</a:t>
            </a:r>
          </a:p>
          <a:p>
            <a:pPr algn="ctr"/>
            <a:r>
              <a:rPr sz="1200" b="0" i="0">
                <a:solidFill>
                  <a:srgbClr val="555555"/>
                </a:solidFill>
                <a:latin typeface="Karla"/>
              </a:rPr>
              <a:t>joins act as filters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5527" y="3429000"/>
            <a:ext cx="2331720" cy="1051560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Sensitivity and What-If</a:t>
            </a:r>
          </a:p>
          <a:p>
            <a:pPr algn="ctr"/>
            <a:r>
              <a:rPr sz="1200" b="0" i="0">
                <a:solidFill>
                  <a:srgbClr val="555555"/>
                </a:solidFill>
                <a:latin typeface="Karla"/>
              </a:rPr>
              <a:t>re-solve perturbed models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40399" y="2025396"/>
            <a:ext cx="310896" cy="20116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ft Arrow 10"/>
          <p:cNvSpPr/>
          <p:nvPr/>
        </p:nvSpPr>
        <p:spPr>
          <a:xfrm>
            <a:off x="5940399" y="3854196"/>
            <a:ext cx="310896" cy="201168"/>
          </a:xfrm>
          <a:prstGeom prst="lef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24447" y="1600200"/>
            <a:ext cx="2331720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Pricing and Pruning</a:t>
            </a:r>
          </a:p>
          <a:p>
            <a:pPr algn="ctr"/>
            <a:r>
              <a:rPr sz="1200" b="0" i="0">
                <a:solidFill>
                  <a:srgbClr val="555555"/>
                </a:solidFill>
                <a:latin typeface="Karla"/>
              </a:rPr>
              <a:t>weight bands, minimum charge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3429000"/>
            <a:ext cx="2331720" cy="1051560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Model 2: Cost vs Time</a:t>
            </a:r>
          </a:p>
          <a:p>
            <a:pPr algn="ctr"/>
            <a:r>
              <a:rPr sz="1200" b="0" i="0">
                <a:solidFill>
                  <a:srgbClr val="555555"/>
                </a:solidFill>
                <a:latin typeface="Karla"/>
              </a:rPr>
              <a:t>Goal Programming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29319" y="2025396"/>
            <a:ext cx="310896" cy="20116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ft Arrow 14"/>
          <p:cNvSpPr/>
          <p:nvPr/>
        </p:nvSpPr>
        <p:spPr>
          <a:xfrm>
            <a:off x="8729319" y="3854196"/>
            <a:ext cx="310896" cy="201168"/>
          </a:xfrm>
          <a:prstGeom prst="lef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13367" y="1600200"/>
            <a:ext cx="2331720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Planning Horizon Check</a:t>
            </a:r>
          </a:p>
          <a:p>
            <a:pPr algn="ctr"/>
            <a:r>
              <a:rPr sz="1200" b="0" i="0">
                <a:solidFill>
                  <a:srgbClr val="555555"/>
                </a:solidFill>
                <a:latin typeface="Karla"/>
              </a:rPr>
              <a:t>Maximum 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13367" y="3429000"/>
            <a:ext cx="2331720" cy="1051560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Model 1: Minimum Cost</a:t>
            </a:r>
          </a:p>
          <a:p>
            <a:pPr algn="ctr"/>
            <a:r>
              <a:rPr sz="1200" b="0" i="0">
                <a:solidFill>
                  <a:srgbClr val="555555"/>
                </a:solidFill>
                <a:latin typeface="Karla"/>
              </a:rPr>
              <a:t>Integer Programming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0178643" y="2743200"/>
            <a:ext cx="201168" cy="594360"/>
          </a:xfrm>
          <a:prstGeom prst="down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Costs, capacities and transit times are taken directly from the dataset, not assumed.</a:t>
            </a:r>
          </a:p>
          <a:p>
            <a:pPr marL="274320" indent="-256032"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Both models are solved exactly with the HiGHS solver over a 7-day planning horizon.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0000"/>
                </a:solidFill>
                <a:latin typeface="Poppins"/>
              </a:rPr>
              <a:t>OPTIMISATION FORMULATION: MODEL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00000"/>
                </a:solidFill>
                <a:latin typeface="Karla"/>
              </a:rPr>
              <a:t>Minimum-cost logistics assignment (Integer Programming): choose the warehouse, origin port and carrier of every order so that total logistics cost is minimised.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0000"/>
                </a:solidFill>
                <a:latin typeface="Karla"/>
              </a:rPr>
              <a:t>Decision variable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59152"/>
            <a:ext cx="5120640" cy="74980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000000"/>
                </a:solidFill>
                <a:latin typeface="Karla"/>
              </a:rPr>
              <a:t>x(o,w,p,c) = 1 if order o ships from warehouse w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000000"/>
                </a:solidFill>
                <a:latin typeface="Karla"/>
              </a:rPr>
              <a:t>through port p on carrier c, else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0000"/>
                </a:solidFill>
                <a:latin typeface="Karla"/>
              </a:rPr>
              <a:t>Objective function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93592"/>
            <a:ext cx="5120640" cy="74980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000000"/>
                </a:solidFill>
                <a:latin typeface="Karla"/>
              </a:rPr>
              <a:t>min Z = Σ [ WhCost(o,w) + Freight(o,p,c) ] · x(o,w,p,c)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000000"/>
                </a:solidFill>
                <a:latin typeface="Karla"/>
              </a:rPr>
              <a:t>summed over all feasible (o, w, p, 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0000"/>
                </a:solidFill>
                <a:latin typeface="Karla"/>
              </a:rPr>
              <a:t>Why minimise cost?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28032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350" b="0" i="0">
                <a:solidFill>
                  <a:srgbClr val="000000"/>
                </a:solidFill>
                <a:latin typeface="Karla"/>
              </a:rPr>
              <a:t>Demand is fixed, so the only lever is the route of each order.</a:t>
            </a:r>
          </a:p>
          <a:p>
            <a:pPr marL="274320" indent="-256032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350" b="0" i="0">
                <a:solidFill>
                  <a:srgbClr val="000000"/>
                </a:solidFill>
                <a:latin typeface="Karla"/>
              </a:rPr>
              <a:t>Warehouse cost per unit ranges from 0.37 to 2.04.</a:t>
            </a:r>
          </a:p>
          <a:p>
            <a:pPr marL="274320" indent="-256032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350" b="0" i="0">
                <a:solidFill>
                  <a:srgbClr val="000000"/>
                </a:solidFill>
                <a:latin typeface="Karla"/>
              </a:rPr>
              <a:t>Freight = max(minimum charge, weight x band rate).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0116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0000"/>
                </a:solidFill>
                <a:latin typeface="Karla"/>
              </a:rPr>
              <a:t>Subject to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2200" y="2359152"/>
          <a:ext cx="5394960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83080"/>
                <a:gridCol w="36118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Karla"/>
                        </a:rPr>
                        <a:t>CONSTRAINT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Karla"/>
                        </a:rPr>
                        <a:t>MATHEMATICAL STATEMENT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Karla"/>
                        </a:rPr>
                        <a:t>Order assignment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Σ x(o,w,p,c) = 1 for every order o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Karla"/>
                        </a:rPr>
                        <a:t>Warehouse capacity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orders at w ≤ H × daily capacity of w, H = 7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Karla"/>
                        </a:rPr>
                        <a:t>Product eligibility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x = 0 unless w stocks the ordered product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Karla"/>
                        </a:rPr>
                        <a:t>Customer eligibility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x = 0 unless w may serve that customer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Karla"/>
                        </a:rPr>
                        <a:t>Port connectivity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x = 0 unless (w, p) appears in PlantPorts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Karla"/>
                        </a:rPr>
                        <a:t>Freight availability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x = 0 unless a rate exists for the lane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Karla"/>
                        </a:rPr>
                        <a:t>Integrality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x(o,w,p,c) ∈ {0, 1}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0000"/>
                </a:solidFill>
                <a:latin typeface="Poppins"/>
              </a:rPr>
              <a:t>OR MODEL 1: MINIMUM-COST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0000"/>
                </a:solidFill>
                <a:latin typeface="Karla"/>
              </a:rPr>
              <a:t>Planning horizon check (Maximum Flow)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484632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9,215 Orders</a:t>
            </a:r>
          </a:p>
          <a:p>
            <a:pPr algn="ctr"/>
            <a:r>
              <a:rPr sz="1200" b="0" i="0">
                <a:solidFill>
                  <a:srgbClr val="555555"/>
                </a:solidFill>
                <a:latin typeface="Karla"/>
              </a:rPr>
              <a:t>one unit of flow each</a:t>
            </a:r>
          </a:p>
        </p:txBody>
      </p:sp>
      <p:sp>
        <p:nvSpPr>
          <p:cNvPr id="6" name="Down Arrow 5"/>
          <p:cNvSpPr/>
          <p:nvPr/>
        </p:nvSpPr>
        <p:spPr>
          <a:xfrm>
            <a:off x="2971799" y="2505456"/>
            <a:ext cx="182880" cy="201168"/>
          </a:xfrm>
          <a:prstGeom prst="down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484632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19 Warehouses</a:t>
            </a:r>
          </a:p>
          <a:p>
            <a:pPr algn="ctr"/>
            <a:r>
              <a:rPr sz="1200" b="0" i="0">
                <a:solidFill>
                  <a:srgbClr val="555555"/>
                </a:solidFill>
                <a:latin typeface="Karla"/>
              </a:rPr>
              <a:t>capacity = H x daily limit</a:t>
            </a:r>
          </a:p>
        </p:txBody>
      </p:sp>
      <p:sp>
        <p:nvSpPr>
          <p:cNvPr id="8" name="Down Arrow 7"/>
          <p:cNvSpPr/>
          <p:nvPr/>
        </p:nvSpPr>
        <p:spPr>
          <a:xfrm>
            <a:off x="2971799" y="3465576"/>
            <a:ext cx="182880" cy="201168"/>
          </a:xfrm>
          <a:prstGeom prst="down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3703320"/>
            <a:ext cx="4846320" cy="685800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H = 7 Days</a:t>
            </a:r>
          </a:p>
          <a:p>
            <a:pPr algn="ctr"/>
            <a:r>
              <a:rPr sz="1200" b="0" i="0">
                <a:solidFill>
                  <a:srgbClr val="555555"/>
                </a:solidFill>
                <a:latin typeface="Karla"/>
              </a:rPr>
              <a:t>smallest horizon with full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5120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350" b="0" i="0">
                <a:solidFill>
                  <a:srgbClr val="000000"/>
                </a:solidFill>
                <a:latin typeface="Karla"/>
              </a:rPr>
              <a:t>Total capacity alone suggests 2 days, but 7,387 orders have only one eligible warehouse.</a:t>
            </a:r>
          </a:p>
          <a:p>
            <a:pPr marL="274320" indent="-256032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350" b="0" i="0">
                <a:solidFill>
                  <a:srgbClr val="000000"/>
                </a:solidFill>
                <a:latin typeface="Karla"/>
              </a:rPr>
              <a:t>PLANT03 is the only option for 6,868 orders at 1,013 per day, forcing 7 days.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3258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0000"/>
                </a:solidFill>
                <a:latin typeface="Karla"/>
              </a:rPr>
              <a:t>Implementation pipeline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2200" y="1783080"/>
          <a:ext cx="5394960" cy="39684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83080"/>
                <a:gridCol w="361188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Karla"/>
                        </a:rPr>
                        <a:t>STEP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00000"/>
                          </a:solidFill>
                          <a:latin typeface="Karla"/>
                        </a:rPr>
                        <a:t>WHAT IT DOES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Karla"/>
                        </a:rPr>
                        <a:t>Feasibility filters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Stock, VMI, port links and lanes remove infeasible routes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Karla"/>
                        </a:rPr>
                        <a:t>Weight-band pricing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Freight = max(minimum charge, weight x rate)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Karla"/>
                        </a:rPr>
                        <a:t>Dominance pruning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Keep the cheapest route per order and warehouse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Karla"/>
                        </a:rPr>
                        <a:t>Horizon check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Max-flow test fixes the horizon at H = 7 days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Karla"/>
                        </a:rPr>
                        <a:t>Model build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Binary IP: one row per order, one per warehouse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Karla"/>
                        </a:rPr>
                        <a:t>HiGHS solve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Branch-and-bound to a 0.1% gap in about 0.5 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172200" y="58521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555"/>
                </a:solidFill>
                <a:latin typeface="Karla"/>
              </a:rPr>
              <a:t>125,887 feasible routes are generated; pruning leaves the optimum unchanged.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0000"/>
                </a:solidFill>
                <a:latin typeface="Poppins"/>
              </a:rPr>
              <a:t>MODEL 1: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29000" cy="914400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000000"/>
                </a:solidFill>
                <a:latin typeface="Karla"/>
              </a:rPr>
              <a:t>$15,517,994</a:t>
            </a:r>
          </a:p>
          <a:p>
            <a:pPr algn="ctr"/>
            <a:r>
              <a:rPr sz="1300" b="0" i="0">
                <a:solidFill>
                  <a:srgbClr val="555555"/>
                </a:solidFill>
                <a:latin typeface="Karla"/>
              </a:rPr>
              <a:t>Optimal total cost, all 9,215 orders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371600"/>
            <a:ext cx="3429000" cy="914400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000000"/>
                </a:solidFill>
                <a:latin typeface="Karla"/>
              </a:rPr>
              <a:t>$15,489,878</a:t>
            </a:r>
          </a:p>
          <a:p>
            <a:pPr algn="ctr"/>
            <a:r>
              <a:rPr sz="1300" b="0" i="0">
                <a:solidFill>
                  <a:srgbClr val="555555"/>
                </a:solidFill>
                <a:latin typeface="Karla"/>
              </a:rPr>
              <a:t>Warehouse cost (99.8% of total)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1583" y="1371600"/>
            <a:ext cx="3429000" cy="914400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000000"/>
                </a:solidFill>
                <a:latin typeface="Karla"/>
              </a:rPr>
              <a:t>$28,116</a:t>
            </a:r>
          </a:p>
          <a:p>
            <a:pPr algn="ctr"/>
            <a:r>
              <a:rPr sz="1300" b="0" i="0">
                <a:solidFill>
                  <a:srgbClr val="555555"/>
                </a:solidFill>
                <a:latin typeface="Karla"/>
              </a:rPr>
              <a:t>Transportation cost (0.2% of total)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51206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500" b="0" i="0">
                <a:solidFill>
                  <a:srgbClr val="000000"/>
                </a:solidFill>
                <a:latin typeface="Karla"/>
              </a:rPr>
              <a:t>Status optimal over a 7-day planning horizon; every constraint met.</a:t>
            </a:r>
          </a:p>
          <a:p>
            <a:pPr marL="274320" indent="-256032"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500" b="0" i="0">
                <a:solidFill>
                  <a:srgbClr val="000000"/>
                </a:solidFill>
                <a:latin typeface="Karla"/>
              </a:rPr>
              <a:t>11 of 19 warehouses, 7 of 11 ports and 5 of 9 carriers are used.</a:t>
            </a:r>
          </a:p>
          <a:p>
            <a:pPr marL="274320" indent="-256032"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500" b="0" i="0">
                <a:solidFill>
                  <a:srgbClr val="000000"/>
                </a:solidFill>
                <a:latin typeface="Karla"/>
              </a:rPr>
              <a:t>Carriers V444_0 and V444_1 lead; average transit is 2.64 days.</a:t>
            </a:r>
          </a:p>
          <a:p>
            <a:pPr marL="274320" indent="-256032"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500" b="0" i="0">
                <a:solidFill>
                  <a:srgbClr val="000000"/>
                </a:solidFill>
                <a:latin typeface="Karla"/>
              </a:rPr>
              <a:t>Low-cost warehouses take every order they are eligible for.</a:t>
            </a:r>
          </a:p>
          <a:p>
            <a:pPr marL="274320" indent="-256032"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500" b="0" i="0">
                <a:solidFill>
                  <a:srgbClr val="000000"/>
                </a:solidFill>
                <a:latin typeface="Karla"/>
              </a:rPr>
              <a:t>PLANT03 is the only binding capacity constraint.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2651760"/>
          <a:ext cx="5394960" cy="2514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7360"/>
                <a:gridCol w="914400"/>
                <a:gridCol w="1371600"/>
                <a:gridCol w="137160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Karla"/>
                        </a:rPr>
                        <a:t>WAREHOUSE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Karla"/>
                        </a:rPr>
                        <a:t>ORDERS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Karla"/>
                        </a:rPr>
                        <a:t>7-DAY CAPACITY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Karla"/>
                        </a:rPr>
                        <a:t>UTILISATION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000000"/>
                          </a:solidFill>
                          <a:latin typeface="Karla"/>
                        </a:rPr>
                        <a:t>PLANT03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7,091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7,091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100% (binding)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000000"/>
                          </a:solidFill>
                          <a:latin typeface="Karla"/>
                        </a:rPr>
                        <a:t>PLANT02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640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966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66.3%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000000"/>
                          </a:solidFill>
                          <a:latin typeface="Karla"/>
                        </a:rPr>
                        <a:t>PLANT04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387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3,878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10.0%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000000"/>
                          </a:solidFill>
                          <a:latin typeface="Karla"/>
                        </a:rPr>
                        <a:t>Other 8 warehouses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1,097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-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Karla"/>
                        </a:rPr>
                        <a:t>all have slack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530352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555555"/>
                </a:solidFill>
                <a:latin typeface="Karla"/>
              </a:rPr>
              <a:t>Warehouse loads in the minimum-cost plan. PLANT03 is the sole eligible warehouse for 6,868 orders, which is why the plan needs 7 days.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0000"/>
                </a:solidFill>
                <a:latin typeface="Poppins"/>
              </a:rPr>
              <a:t>OPTIMISATION FORMULATION: MODEL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00000"/>
                </a:solidFill>
                <a:latin typeface="Karla"/>
              </a:rPr>
              <a:t>Cost versus delivery time (Weighted Goal Programming): Model 1 ignores time, yet transit in the freight data ranges from 0 to 14 days. Model 2 balances both objectives.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0000"/>
                </a:solidFill>
                <a:latin typeface="Karla"/>
              </a:rPr>
              <a:t>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59152"/>
            <a:ext cx="5394960" cy="74980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000000"/>
                </a:solidFill>
                <a:latin typeface="Karla"/>
              </a:rPr>
              <a:t>Goal 1:  total cost ≤ C* = Model 1 optimum + budget (5%)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000000"/>
                </a:solidFill>
                <a:latin typeface="Karla"/>
              </a:rPr>
              <a:t>Goal 2:  average transit of DTD/DTP orders ≤ T* (1 day)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0000"/>
                </a:solidFill>
                <a:latin typeface="Karla"/>
              </a:rPr>
              <a:t>Deviation variables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93592"/>
            <a:ext cx="5394960" cy="74980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000000"/>
                </a:solidFill>
                <a:latin typeface="Karla"/>
              </a:rPr>
              <a:t>d1+ , d1-  =  cost above / below the target C*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000000"/>
                </a:solidFill>
                <a:latin typeface="Karla"/>
              </a:rPr>
              <a:t>d2+ , d2-  =  transit days above / below T* ×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0000"/>
                </a:solidFill>
                <a:latin typeface="Karla"/>
              </a:rPr>
              <a:t>Objective function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828032"/>
            <a:ext cx="5394960" cy="74980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000000"/>
                </a:solidFill>
                <a:latin typeface="Karla"/>
              </a:rPr>
              <a:t>min Z = w1 · (d1+ / C*) + w2 · (d2+ / (T* × N))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000000"/>
                </a:solidFill>
                <a:latin typeface="Karla"/>
              </a:rPr>
              <a:t>plus a small cost tie-break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0000"/>
                </a:solidFill>
                <a:latin typeface="Karla"/>
              </a:rPr>
              <a:t>Why minimise the deviations?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95728"/>
            <a:ext cx="51206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450" b="0" i="0">
                <a:solidFill>
                  <a:srgbClr val="000000"/>
                </a:solidFill>
                <a:latin typeface="Karla"/>
              </a:rPr>
              <a:t>A plan may be least-cost yet slow: the Model 1 plan averages 2.64 days in transit.</a:t>
            </a:r>
          </a:p>
          <a:p>
            <a:pPr marL="274320" indent="-256032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450" b="0" i="0">
                <a:solidFill>
                  <a:srgbClr val="000000"/>
                </a:solidFill>
                <a:latin typeface="Karla"/>
              </a:rPr>
              <a:t>Only over-achievement is penalised; meeting a goal costs nothing.</a:t>
            </a:r>
          </a:p>
          <a:p>
            <a:pPr marL="274320" indent="-256032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450" b="0" i="0">
                <a:solidFill>
                  <a:srgbClr val="000000"/>
                </a:solidFill>
                <a:latin typeface="Karla"/>
              </a:rPr>
              <a:t>Dividing by the targets lets money and days be weighed together.</a:t>
            </a:r>
          </a:p>
          <a:p>
            <a:pPr marL="274320" indent="-256032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450" b="0" i="0">
                <a:solidFill>
                  <a:srgbClr val="000000"/>
                </a:solidFill>
                <a:latin typeface="Karla"/>
              </a:rPr>
              <a:t>All Model 1 constraints (assignment, capacity, eligibility) still apply.</a:t>
            </a:r>
          </a:p>
          <a:p>
            <a:pPr marL="274320" indent="-256032">
              <a:lnSpc>
                <a:spcPct val="115000"/>
              </a:lnSpc>
              <a:spcAft>
                <a:spcPts val="900"/>
              </a:spcAft>
              <a:buChar char="•"/>
            </a:pPr>
            <a:r>
              <a:rPr sz="1450" b="0" i="0">
                <a:solidFill>
                  <a:srgbClr val="000000"/>
                </a:solidFill>
                <a:latin typeface="Karla"/>
              </a:rPr>
              <a:t>The user sets C*, T*, w1 and w2; HiGHS solves it in 2 to 3 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0000"/>
                </a:solidFill>
                <a:latin typeface="Poppins"/>
              </a:rPr>
              <a:t>MODEL 2: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00000"/>
                </a:solidFill>
                <a:latin typeface="Karla"/>
              </a:rPr>
              <a:t>With the default goals (budget +5%, target 1 day, equal weights) both goals are met: average transit falls from 2.64 days to 1.00 day for only +0.22% cost.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148840"/>
          <a:ext cx="10908792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468880"/>
                <a:gridCol w="2468880"/>
                <a:gridCol w="2926080"/>
                <a:gridCol w="304495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Karla"/>
                        </a:rPr>
                        <a:t>TRANSIT TARGET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Karla"/>
                        </a:rPr>
                        <a:t>ACHIEVED TRANSIT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Karla"/>
                        </a:rPr>
                        <a:t>TOTAL COST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Karla"/>
                        </a:rPr>
                        <a:t>COST VS MODEL 1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0.25 days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0.25 days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$15,694,514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+1.14%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0.50 days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0.50 days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$15,633,001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+0.74%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1.00 day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1.00 day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$15,551,482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+0.22%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2.00 days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2.00 days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$15,521,442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+0.02%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3.50 days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2.64 days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$15,517,994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0.00% (minimum cost)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12064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The trade-off curve is convex: every extra half-day of speed costs more than the last.</a:t>
            </a:r>
          </a:p>
          <a:p>
            <a:pPr marL="274320" indent="-256032"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Halving transit to about 1 day costs 0.22%; reaching 0.25 days costs 1.14%.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0000"/>
                </a:solidFill>
                <a:latin typeface="Poppins"/>
              </a:rPr>
              <a:t>COMPARISON BETWEEN THE TWO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08792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91840"/>
                <a:gridCol w="2651760"/>
                <a:gridCol w="2651760"/>
                <a:gridCol w="231343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Karla"/>
                        </a:rPr>
                        <a:t>METRIC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Karla"/>
                        </a:rPr>
                        <a:t>MODEL 1 (MIN COST)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Karla"/>
                        </a:rPr>
                        <a:t>MODEL 2 (GOAL PROG.)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Karla"/>
                        </a:rPr>
                        <a:t>CHANGE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Karla"/>
                        </a:rPr>
                        <a:t>Total logistics cost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$15,517,994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$15,551,482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+0.22%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Karla"/>
                        </a:rPr>
                        <a:t>Average delivery time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2.64 days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1.00 day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-62%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Karla"/>
                        </a:rPr>
                        <a:t>Freight cost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$28,116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$62,126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+121%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Karla"/>
                        </a:rPr>
                        <a:t>Warehouses used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11 of 19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11 of 19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same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Karla"/>
                        </a:rPr>
                        <a:t>Origin ports used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7 of 11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7 of 11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same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Karla"/>
                        </a:rPr>
                        <a:t>Carriers used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5 of 9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5 of 9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same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Karla"/>
                        </a:rPr>
                        <a:t>Planning horizon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7 days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7 days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same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2578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550" b="0" i="0">
                <a:solidFill>
                  <a:srgbClr val="000000"/>
                </a:solidFill>
                <a:latin typeface="Karla"/>
              </a:rPr>
              <a:t>Faster delivery is bought almost entirely with freight, which is a tiny share of total cost.</a:t>
            </a:r>
          </a:p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550" b="0" i="0">
                <a:solidFill>
                  <a:srgbClr val="000000"/>
                </a:solidFill>
                <a:latin typeface="Karla"/>
              </a:rPr>
              <a:t>Both plans spread volume wider than the historical plan (7 warehouses, 3 ports, 3 carriers).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0000"/>
                </a:solidFill>
                <a:latin typeface="Poppins"/>
              </a:rPr>
              <a:t>SENSITIVITY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00000"/>
                </a:solidFill>
                <a:latin typeface="Karla"/>
              </a:rPr>
              <a:t>Each scenario perturbs one parameter and re-solves Model 1 from scratch with HiGHS.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908792" cy="30723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3931920"/>
                <a:gridCol w="2651760"/>
                <a:gridCol w="2953512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Karla"/>
                        </a:rPr>
                        <a:t>SCENARIO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Karla"/>
                        </a:rPr>
                        <a:t>PARAMETER CHANGE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Karla"/>
                        </a:rPr>
                        <a:t>OPTIMAL COST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Karla"/>
                        </a:rPr>
                        <a:t>CHANGE VS BASE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Karla"/>
                        </a:rPr>
                        <a:t>Base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No change, reference solution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$15,517,994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reference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Karla"/>
                        </a:rPr>
                        <a:t>S1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Warehouse capacity -20%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$15,517,238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-0.005% (9 days)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Karla"/>
                        </a:rPr>
                        <a:t>S2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Warehouse capacity +20%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$15,517,099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-0.006% (6 days)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Karla"/>
                        </a:rPr>
                        <a:t>S3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Freight rates +20%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$15,523,617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+0.04%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Karla"/>
                        </a:rPr>
                        <a:t>S4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Warehouse cost +10%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$17,066,981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+9.98%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Karla"/>
                        </a:rPr>
                        <a:t>S5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Demand volume +20%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$18,617,042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Karla"/>
                        </a:rPr>
                        <a:t>+19.97%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0749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000000"/>
                </a:solidFill>
                <a:latin typeface="Karla"/>
              </a:rPr>
              <a:t>Demand and warehouse cost drive total cost; freight (0.2% of cost) barely matters.</a:t>
            </a:r>
          </a:p>
          <a:p>
            <a:pPr marL="274320" indent="-256032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000000"/>
                </a:solidFill>
                <a:latin typeface="Karla"/>
              </a:rPr>
              <a:t>Capacity changes move the planning horizon (9 days at -20%, 6 days at +20%), not the cost.</a:t>
            </a:r>
          </a:p>
          <a:p>
            <a:pPr marL="274320" indent="-256032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000000"/>
                </a:solidFill>
                <a:latin typeface="Karla"/>
              </a:rPr>
              <a:t>11 preset scenarios per model, plus custom what-if runs on any warehouse or carrier.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0000"/>
                </a:solidFill>
                <a:latin typeface="Poppins"/>
              </a:rPr>
              <a:t>SYSTEM ARCHITECTURE AND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475488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Logistics Manager</a:t>
            </a:r>
          </a:p>
        </p:txBody>
      </p:sp>
      <p:sp>
        <p:nvSpPr>
          <p:cNvPr id="5" name="Down Arrow 4"/>
          <p:cNvSpPr/>
          <p:nvPr/>
        </p:nvSpPr>
        <p:spPr>
          <a:xfrm>
            <a:off x="2926079" y="2029968"/>
            <a:ext cx="182880" cy="201167"/>
          </a:xfrm>
          <a:prstGeom prst="down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267712"/>
            <a:ext cx="475488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Web Interface</a:t>
            </a:r>
          </a:p>
          <a:p>
            <a:pPr algn="ctr"/>
            <a:r>
              <a:rPr sz="1200" b="0" i="0">
                <a:solidFill>
                  <a:srgbClr val="555555"/>
                </a:solidFill>
                <a:latin typeface="Karla"/>
              </a:rPr>
              <a:t>Next.js + React</a:t>
            </a:r>
          </a:p>
        </p:txBody>
      </p:sp>
      <p:sp>
        <p:nvSpPr>
          <p:cNvPr id="7" name="Down Arrow 6"/>
          <p:cNvSpPr/>
          <p:nvPr/>
        </p:nvSpPr>
        <p:spPr>
          <a:xfrm>
            <a:off x="2926079" y="2926080"/>
            <a:ext cx="182880" cy="201167"/>
          </a:xfrm>
          <a:prstGeom prst="down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163824"/>
            <a:ext cx="475488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Workbook Parsing and Route Generation</a:t>
            </a:r>
          </a:p>
        </p:txBody>
      </p:sp>
      <p:sp>
        <p:nvSpPr>
          <p:cNvPr id="9" name="Down Arrow 8"/>
          <p:cNvSpPr/>
          <p:nvPr/>
        </p:nvSpPr>
        <p:spPr>
          <a:xfrm>
            <a:off x="2926079" y="3822191"/>
            <a:ext cx="182880" cy="201167"/>
          </a:xfrm>
          <a:prstGeom prst="down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4059935"/>
            <a:ext cx="4754880" cy="621792"/>
          </a:xfrm>
          <a:prstGeom prst="roundRect">
            <a:avLst>
              <a:gd name="adj" fmla="val 18000"/>
            </a:avLst>
          </a:prstGeom>
          <a:solidFill>
            <a:srgbClr val="F3F3F3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Optimisation Engine (HiGHS)</a:t>
            </a:r>
          </a:p>
          <a:p>
            <a:pPr algn="ctr"/>
            <a:r>
              <a:rPr sz="1200" b="0" i="0">
                <a:solidFill>
                  <a:srgbClr val="555555"/>
                </a:solidFill>
                <a:latin typeface="Karla"/>
              </a:rPr>
              <a:t>Integer Programme | Goal Programme | What-If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926079" y="4718303"/>
            <a:ext cx="182880" cy="201167"/>
          </a:xfrm>
          <a:prstGeom prst="down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956048"/>
            <a:ext cx="475488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0000"/>
                </a:solidFill>
                <a:latin typeface="Karla"/>
              </a:rPr>
              <a:t>Results, Route Planner, Bulk Upload and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5216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55555"/>
                </a:solidFill>
                <a:latin typeface="Karla"/>
              </a:rPr>
              <a:t>Architecture of the decision support system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97880" y="1371600"/>
          <a:ext cx="5669280" cy="422452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51760"/>
                <a:gridCol w="3017520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Karla"/>
                        </a:rPr>
                        <a:t>TOOL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Karla"/>
                        </a:rPr>
                        <a:t>PURPOSE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8C8C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Karla"/>
                        </a:rPr>
                        <a:t>Next.js 16 + React 19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Karla"/>
                        </a:rPr>
                        <a:t>Tabs, controls and result tables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Karla"/>
                        </a:rPr>
                        <a:t>TypeScript + SheetJS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Karla"/>
                        </a:rPr>
                        <a:t>Parsing and joining the seven tables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Karla"/>
                        </a:rPr>
                        <a:t>TypeScript model builder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Karla"/>
                        </a:rPr>
                        <a:t>Building the IP and GP models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Karla"/>
                        </a:rPr>
                        <a:t>HiGHS (WebAssembly)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Karla"/>
                        </a:rPr>
                        <a:t>Branch-and-bound solver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Karla"/>
                        </a:rPr>
                        <a:t>Recharts + custom SVG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Karla"/>
                        </a:rPr>
                        <a:t>Charts and route network view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Karla"/>
                        </a:rPr>
                        <a:t>Prisma / SQLite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Karla"/>
                        </a:rPr>
                        <a:t>Solve APIs and stored scenarios</a:t>
                      </a:r>
                    </a:p>
                  </a:txBody>
                  <a:tcPr anchor="ctr" marL="91440" marR="91440" marT="36576" marB="36576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0000"/>
                </a:solidFill>
                <a:latin typeface="Poppins"/>
              </a:rPr>
              <a:t>RESULTS: DATASET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16</a:t>
            </a:r>
          </a:p>
        </p:txBody>
      </p:sp>
      <p:pic>
        <p:nvPicPr>
          <p:cNvPr id="4" name="Picture 3" descr="01_sit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574" y="1280160"/>
            <a:ext cx="5139890" cy="46634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6016752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55555"/>
                </a:solidFill>
                <a:latin typeface="Karla"/>
              </a:rPr>
              <a:t>Dataset Analysis tab with the overview and table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1737360"/>
            <a:ext cx="3566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Five tabs: Dataset Analysis, Model 1, Model 2, Route Planner and Bulk Upload.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A section bar under the tabs jumps to any part of the page.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All statistics are computed live from the uploaded workbook.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0000"/>
                </a:solidFill>
                <a:latin typeface="Poppins"/>
              </a:rPr>
              <a:t>RESULTS: FEASIBILITY AND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17</a:t>
            </a:r>
          </a:p>
        </p:txBody>
      </p:sp>
      <p:pic>
        <p:nvPicPr>
          <p:cNvPr id="4" name="Picture 3" descr="05_feasibility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040880" cy="41335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5486862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55555"/>
                </a:solidFill>
                <a:latin typeface="Karla"/>
              </a:rPr>
              <a:t>Narrowing the solution space and the capacity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1737360"/>
            <a:ext cx="3566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17.3 million raw combinations shrink to 125,887 feasible routes.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A max-flow test shows every order fits within 7 days at the earliest.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PLANT03 is the bottleneck that sets the horizon.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0000"/>
                </a:solidFill>
                <a:latin typeface="Poppins"/>
              </a:rPr>
              <a:t>MODEL 1: RESULT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18</a:t>
            </a:r>
          </a:p>
        </p:txBody>
      </p:sp>
      <p:pic>
        <p:nvPicPr>
          <p:cNvPr id="4" name="Picture 3" descr="07_p1_result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709" y="1280160"/>
            <a:ext cx="9342275" cy="3429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47823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55555"/>
                </a:solidFill>
                <a:latin typeface="Karla"/>
              </a:rPr>
              <a:t>Result summary returned by the HiGHS solver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Optimal plan for all 9,215 orders: total cost $15,517,994.</a:t>
            </a:r>
          </a:p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Warehouse cost is 99.8% of the total, so warehouse choice drives cost.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0000"/>
                </a:solidFill>
                <a:latin typeface="Poppins"/>
              </a:rPr>
              <a:t>MODEL 1: WAREHOUSE LOAD AND CARRIERS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19</a:t>
            </a:r>
          </a:p>
        </p:txBody>
      </p:sp>
      <p:pic>
        <p:nvPicPr>
          <p:cNvPr id="4" name="Picture 3" descr="08_p1_warehouse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040880" cy="4449994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5803306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55555"/>
                </a:solidFill>
                <a:latin typeface="Karla"/>
              </a:rPr>
              <a:t>Orders per warehouse against 7-day capacity, and carriers selected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1737360"/>
            <a:ext cx="3566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PLANT03 is filled to its 7-day capacity; every other warehouse has slack.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V444_0 and V444_1 carry most of the DTD/DTP orders.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Only 5 of the 9 carriers are needed.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0000"/>
                </a:solidFill>
                <a:latin typeface="Poppins"/>
              </a:rPr>
              <a:t>MODEL 1: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20</a:t>
            </a:r>
          </a:p>
        </p:txBody>
      </p:sp>
      <p:pic>
        <p:nvPicPr>
          <p:cNvPr id="4" name="Picture 3" descr="10_p1_sensitivit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428" y="1280160"/>
            <a:ext cx="9586837" cy="3429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47823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55555"/>
                </a:solidFill>
                <a:latin typeface="Karla"/>
              </a:rPr>
              <a:t>Change in total cost per scenario against the baseline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Demand and warehouse cost move total cost.</a:t>
            </a:r>
          </a:p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Freight and capacity changes barely affect it.</a:t>
            </a:r>
          </a:p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Capacity changes shift the horizon between 6 and 9 days.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0000"/>
                </a:solidFill>
                <a:latin typeface="Poppins"/>
              </a:rPr>
              <a:t>MODEL 2: GOAL ATTAINMENT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21</a:t>
            </a:r>
          </a:p>
        </p:txBody>
      </p:sp>
      <p:pic>
        <p:nvPicPr>
          <p:cNvPr id="4" name="Picture 3" descr="13_p2_goal_attai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65" y="1280160"/>
            <a:ext cx="6111109" cy="46634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6016752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55555"/>
                </a:solidFill>
                <a:latin typeface="Karla"/>
              </a:rPr>
              <a:t>Goal settings, attainment and comparison with Model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1737360"/>
            <a:ext cx="3566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Both goals are met: average transit 1.00 day at +0.22% cost.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Targets and weights can be edited before each solve.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The plan is compared with Model 1 side by side.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0000"/>
                </a:solidFill>
                <a:latin typeface="Poppins"/>
              </a:rPr>
              <a:t>MODEL 2: CARRIER MIX AND TRANSIT TIMES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22</a:t>
            </a:r>
          </a:p>
        </p:txBody>
      </p:sp>
      <p:pic>
        <p:nvPicPr>
          <p:cNvPr id="4" name="Picture 3" descr="14_p2_transit_and_carr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1280160"/>
            <a:ext cx="10881360" cy="342334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4776661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55555"/>
                </a:solidFill>
                <a:latin typeface="Karla"/>
              </a:rPr>
              <a:t>Carriers selected and transit time of the chosen routes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06429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DTD/DTP orders now ship within 0 to 2 days.</a:t>
            </a:r>
          </a:p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Faster carriers V444_4 and V444_1 take over from V444_0.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0000"/>
                </a:solidFill>
                <a:latin typeface="Poppins"/>
              </a:rPr>
              <a:t>MODEL 2: COST VS DELIVERY-TIME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23</a:t>
            </a:r>
          </a:p>
        </p:txBody>
      </p:sp>
      <p:pic>
        <p:nvPicPr>
          <p:cNvPr id="4" name="Picture 3" descr="16_p2_tradeoff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198" y="1280160"/>
            <a:ext cx="8803298" cy="3429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478231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55555"/>
                </a:solidFill>
                <a:latin typeface="Karla"/>
              </a:rPr>
              <a:t>Total cost against achieved average transit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Cutting average transit from 2.64 to 0.25 days raises cost by 1.14%.</a:t>
            </a:r>
          </a:p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The curve is convex: each further half-day costs more than the last.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0000"/>
                </a:solidFill>
                <a:latin typeface="Poppins"/>
              </a:rPr>
              <a:t>ROUTE PLANNER: OPTIMAL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24</a:t>
            </a:r>
          </a:p>
        </p:txBody>
      </p:sp>
      <p:pic>
        <p:nvPicPr>
          <p:cNvPr id="4" name="Picture 3" descr="19_route_planner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62" y="1280160"/>
            <a:ext cx="5171914" cy="46634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6016752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55555"/>
                </a:solidFill>
                <a:latin typeface="Karla"/>
              </a:rPr>
              <a:t>Optimal route and every feasible warehouse-port-carrier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1737360"/>
            <a:ext cx="3566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A single order is planned by product, customer, service level and weight.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47 feasible routes are compared for this order.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The optimal path is highlighted in blue across the network.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0000"/>
                </a:solidFill>
                <a:latin typeface="Poppins"/>
              </a:rPr>
              <a:t>ROUTE PLANNER: RANKED ALTERNATIVES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25</a:t>
            </a:r>
          </a:p>
        </p:txBody>
      </p:sp>
      <p:pic>
        <p:nvPicPr>
          <p:cNvPr id="4" name="Picture 3" descr="20_route_planner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154" y="1280160"/>
            <a:ext cx="5608731" cy="46634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6016752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55555"/>
                </a:solidFill>
                <a:latin typeface="Karla"/>
              </a:rPr>
              <a:t>Feasible routes ranked by the objective, and filtered warehouses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1737360"/>
            <a:ext cx="3566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The best 15 routes are listed with their cost and transit time.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Every eliminated warehouse is shown with the reason it was removed.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Objective: minimise cost, minimise time, or a weighted mix.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0000"/>
                </a:solidFill>
                <a:latin typeface="Poppins"/>
              </a:rPr>
              <a:t>ROUTE PLANNER: WITH EXISTING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26</a:t>
            </a:r>
          </a:p>
        </p:txBody>
      </p:sp>
      <p:pic>
        <p:nvPicPr>
          <p:cNvPr id="4" name="Picture 3" descr="24_route_planner_with_exi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67" y="1280160"/>
            <a:ext cx="6936704" cy="46634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6016752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55555"/>
                </a:solidFill>
                <a:latin typeface="Karla"/>
              </a:rPr>
              <a:t>The same order planned together with the 9,215 existing 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1737360"/>
            <a:ext cx="3566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Planning scope is a choice: the new order alone, or re-solved with all existing orders.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Here the order adds $143 to the total and no existing order has to move.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If the cheapest warehouse were full, the model would pick another route or move orders.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0000"/>
                </a:solidFill>
                <a:latin typeface="Poppins"/>
              </a:rPr>
              <a:t>BULK UPLOAD: BATCH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27</a:t>
            </a:r>
          </a:p>
        </p:txBody>
      </p:sp>
      <p:pic>
        <p:nvPicPr>
          <p:cNvPr id="4" name="Picture 3" descr="21_bulk_upload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789" y="1280160"/>
            <a:ext cx="4515461" cy="46634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6016752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55555"/>
                </a:solidFill>
                <a:latin typeface="Karla"/>
              </a:rPr>
              <a:t>Uploaded order file, batch summary and minimum-cost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1737360"/>
            <a:ext cx="3566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A CSV or Excel batch of new orders is uploaded in one step.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Planned alone, 250 of the 255 sample rows cost $541,478 over a 1-day horizon.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The same feasibility filters and integer programme as Model 1 are used.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0000"/>
                </a:solidFill>
                <a:latin typeface="Poppins"/>
              </a:rPr>
              <a:t>BULK UPLOAD: WITH EXISTING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28</a:t>
            </a:r>
          </a:p>
        </p:txBody>
      </p:sp>
      <p:pic>
        <p:nvPicPr>
          <p:cNvPr id="4" name="Picture 3" descr="25_bulk_upload_with_exi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777" y="1280160"/>
            <a:ext cx="6233484" cy="46634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6016752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55555"/>
                </a:solidFill>
                <a:latin typeface="Karla"/>
              </a:rPr>
              <a:t>The uploaded batch re-planned together with the existing 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1737360"/>
            <a:ext cx="3566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All 9,465 orders are re-solved with the Model 1 integer programme.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The batch adds $542,726, against $541,478 when planned alone.</a:t>
            </a:r>
          </a:p>
          <a:p>
            <a:pPr marL="274320" indent="-256032">
              <a:lnSpc>
                <a:spcPct val="115000"/>
              </a:lnSpc>
              <a:spcAft>
                <a:spcPts val="14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187 existing orders move to another warehouse; the horizon stays at 7 days.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0000"/>
                </a:solidFill>
                <a:latin typeface="Poppins"/>
              </a:rPr>
              <a:t>BULK UPLOAD: REJECTED 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29</a:t>
            </a:r>
          </a:p>
        </p:txBody>
      </p:sp>
      <p:pic>
        <p:nvPicPr>
          <p:cNvPr id="4" name="Picture 3" descr="23_bulk_upload_rej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1280160"/>
            <a:ext cx="10881360" cy="3127881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4481193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55555"/>
                </a:solidFill>
                <a:latin typeface="Karla"/>
              </a:rPr>
              <a:t>Rows left out of the plan and the filter that removed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10961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Rows that cannot be routed are listed with the reason, not silently dropped.</a:t>
            </a:r>
          </a:p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Checks cover product stock, service level, weight band and repeated order IDs.</a:t>
            </a:r>
          </a:p>
          <a:p>
            <a:pPr marL="274320" indent="-256032">
              <a:lnSpc>
                <a:spcPct val="115000"/>
              </a:lnSpc>
              <a:spcAft>
                <a:spcPts val="700"/>
              </a:spcAft>
              <a:buChar char="•"/>
            </a:pPr>
            <a:r>
              <a:rPr sz="1600" b="0" i="0">
                <a:solidFill>
                  <a:srgbClr val="000000"/>
                </a:solidFill>
                <a:latin typeface="Karla"/>
              </a:rPr>
              <a:t>The order-level plan can be downloaded as a CSV file.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0000"/>
                </a:solidFill>
                <a:latin typeface="Poppins"/>
              </a:rPr>
              <a:t>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1300"/>
              </a:spcAft>
              <a:buChar char="•"/>
            </a:pPr>
            <a:r>
              <a:rPr sz="1800" b="1" i="0">
                <a:solidFill>
                  <a:srgbClr val="000000"/>
                </a:solidFill>
                <a:latin typeface="Karla"/>
              </a:rPr>
              <a:t>Warehouse choice drives cost: </a:t>
            </a:r>
            <a:r>
              <a:rPr sz="1800" b="0" i="0">
                <a:solidFill>
                  <a:srgbClr val="000000"/>
                </a:solidFill>
                <a:latin typeface="Karla"/>
              </a:rPr>
              <a:t>warehouse cost is 99.8% of the total bill.</a:t>
            </a:r>
          </a:p>
          <a:p>
            <a:pPr marL="274320" indent="-256032">
              <a:lnSpc>
                <a:spcPct val="115000"/>
              </a:lnSpc>
              <a:spcAft>
                <a:spcPts val="1300"/>
              </a:spcAft>
              <a:buChar char="•"/>
            </a:pPr>
            <a:r>
              <a:rPr sz="1800" b="1" i="0">
                <a:solidFill>
                  <a:srgbClr val="000000"/>
                </a:solidFill>
                <a:latin typeface="Karla"/>
              </a:rPr>
              <a:t>PLANT03 is the bottleneck: </a:t>
            </a:r>
            <a:r>
              <a:rPr sz="1800" b="0" i="0">
                <a:solidFill>
                  <a:srgbClr val="000000"/>
                </a:solidFill>
                <a:latin typeface="Karla"/>
              </a:rPr>
              <a:t>it alone forces the 7-day planning horizon.</a:t>
            </a:r>
          </a:p>
          <a:p>
            <a:pPr marL="274320" indent="-256032">
              <a:lnSpc>
                <a:spcPct val="115000"/>
              </a:lnSpc>
              <a:spcAft>
                <a:spcPts val="1300"/>
              </a:spcAft>
              <a:buChar char="•"/>
            </a:pPr>
            <a:r>
              <a:rPr sz="1800" b="1" i="0">
                <a:solidFill>
                  <a:srgbClr val="000000"/>
                </a:solidFill>
                <a:latin typeface="Karla"/>
              </a:rPr>
              <a:t>Diversification keeps the plan feasible: </a:t>
            </a:r>
            <a:r>
              <a:rPr sz="1800" b="0" i="0">
                <a:solidFill>
                  <a:srgbClr val="000000"/>
                </a:solidFill>
                <a:latin typeface="Karla"/>
              </a:rPr>
              <a:t>orders are spread over 11 warehouses and 5 carriers, against 7 and 3 historically.</a:t>
            </a:r>
          </a:p>
          <a:p>
            <a:pPr marL="274320" indent="-256032">
              <a:lnSpc>
                <a:spcPct val="115000"/>
              </a:lnSpc>
              <a:spcAft>
                <a:spcPts val="1300"/>
              </a:spcAft>
              <a:buChar char="•"/>
            </a:pPr>
            <a:r>
              <a:rPr sz="1800" b="1" i="0">
                <a:solidFill>
                  <a:srgbClr val="000000"/>
                </a:solidFill>
                <a:latin typeface="Karla"/>
              </a:rPr>
              <a:t>Faster delivery is cheap at first: </a:t>
            </a:r>
            <a:r>
              <a:rPr sz="1800" b="0" i="0">
                <a:solidFill>
                  <a:srgbClr val="000000"/>
                </a:solidFill>
                <a:latin typeface="Karla"/>
              </a:rPr>
              <a:t>a 1-day average transit costs only 0.22% more.</a:t>
            </a:r>
          </a:p>
          <a:p>
            <a:pPr marL="274320" indent="-256032">
              <a:lnSpc>
                <a:spcPct val="115000"/>
              </a:lnSpc>
              <a:spcAft>
                <a:spcPts val="1300"/>
              </a:spcAft>
              <a:buChar char="•"/>
            </a:pPr>
            <a:r>
              <a:rPr sz="1800" b="1" i="0">
                <a:solidFill>
                  <a:srgbClr val="000000"/>
                </a:solidFill>
                <a:latin typeface="Karla"/>
              </a:rPr>
              <a:t>Demand and warehouse cost dominate: </a:t>
            </a:r>
            <a:r>
              <a:rPr sz="1800" b="0" i="0">
                <a:solidFill>
                  <a:srgbClr val="000000"/>
                </a:solidFill>
                <a:latin typeface="Karla"/>
              </a:rPr>
              <a:t>+20% demand gives +19.97% cost, while freight barely matters.</a:t>
            </a:r>
          </a:p>
          <a:p>
            <a:pPr marL="274320" indent="-256032">
              <a:lnSpc>
                <a:spcPct val="115000"/>
              </a:lnSpc>
              <a:spcAft>
                <a:spcPts val="1300"/>
              </a:spcAft>
              <a:buChar char="•"/>
            </a:pPr>
            <a:r>
              <a:rPr sz="1800" b="1" i="0">
                <a:solidFill>
                  <a:srgbClr val="000000"/>
                </a:solidFill>
                <a:latin typeface="Karla"/>
              </a:rPr>
              <a:t>Capacity changes the horizon, not the cost: </a:t>
            </a:r>
            <a:r>
              <a:rPr sz="1800" b="0" i="0">
                <a:solidFill>
                  <a:srgbClr val="000000"/>
                </a:solidFill>
                <a:latin typeface="Karla"/>
              </a:rPr>
              <a:t>the plan stretches from 6 to 9 days.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0000"/>
                </a:solidFill>
                <a:latin typeface="Poppin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13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Karla"/>
              </a:rPr>
              <a:t>Applies integer programming, maximum flow and goal programming to a real outbound logistics problem.</a:t>
            </a:r>
          </a:p>
          <a:p>
            <a:pPr marL="274320" indent="-256032">
              <a:lnSpc>
                <a:spcPct val="115000"/>
              </a:lnSpc>
              <a:spcAft>
                <a:spcPts val="13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Karla"/>
              </a:rPr>
              <a:t>Uses real data for 9,215 orders, 19 warehouses, 11 ports and 9 carriers; costs, capacities and transit times are not assumed.</a:t>
            </a:r>
          </a:p>
          <a:p>
            <a:pPr marL="274320" indent="-256032">
              <a:lnSpc>
                <a:spcPct val="115000"/>
              </a:lnSpc>
              <a:spcAft>
                <a:spcPts val="13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Karla"/>
              </a:rPr>
              <a:t>Delivers a minimum-cost, fully feasible plan of $15,517,994 over a 7-day horizon.</a:t>
            </a:r>
          </a:p>
          <a:p>
            <a:pPr marL="274320" indent="-256032">
              <a:lnSpc>
                <a:spcPct val="115000"/>
              </a:lnSpc>
              <a:spcAft>
                <a:spcPts val="13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Karla"/>
              </a:rPr>
              <a:t>Cuts average transit from 2.64 days to 1.00 day for only +0.22% cost with goal programming.</a:t>
            </a:r>
          </a:p>
          <a:p>
            <a:pPr marL="274320" indent="-256032">
              <a:lnSpc>
                <a:spcPct val="115000"/>
              </a:lnSpc>
              <a:spcAft>
                <a:spcPts val="13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Karla"/>
              </a:rPr>
              <a:t>Tests robustness with preset and custom sensitivity scenarios on capacity, cost, freight and demand.</a:t>
            </a:r>
          </a:p>
          <a:p>
            <a:pPr marL="274320" indent="-256032">
              <a:lnSpc>
                <a:spcPct val="115000"/>
              </a:lnSpc>
              <a:spcAft>
                <a:spcPts val="13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Karla"/>
              </a:rPr>
              <a:t>Packages everything in a web decision-support system that solves the models in seconds.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0000"/>
                </a:solidFill>
                <a:latin typeface="Poppins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56032">
              <a:lnSpc>
                <a:spcPct val="115000"/>
              </a:lnSpc>
              <a:spcAft>
                <a:spcPts val="1300"/>
              </a:spcAft>
              <a:buChar char="•"/>
            </a:pPr>
            <a:r>
              <a:rPr sz="1800" b="1" i="0">
                <a:solidFill>
                  <a:srgbClr val="000000"/>
                </a:solidFill>
                <a:latin typeface="Karla"/>
              </a:rPr>
              <a:t>Facility Location: </a:t>
            </a:r>
            <a:r>
              <a:rPr sz="1800" b="0" i="0">
                <a:solidFill>
                  <a:srgbClr val="000000"/>
                </a:solidFill>
                <a:latin typeface="Karla"/>
              </a:rPr>
              <a:t>decide which of the 19 warehouses should be active at all.</a:t>
            </a:r>
          </a:p>
          <a:p>
            <a:pPr marL="274320" indent="-256032">
              <a:lnSpc>
                <a:spcPct val="115000"/>
              </a:lnSpc>
              <a:spcAft>
                <a:spcPts val="1300"/>
              </a:spcAft>
              <a:buChar char="•"/>
            </a:pPr>
            <a:r>
              <a:rPr sz="1800" b="1" i="0">
                <a:solidFill>
                  <a:srgbClr val="000000"/>
                </a:solidFill>
                <a:latin typeface="Karla"/>
              </a:rPr>
              <a:t>Transportation Network Model: </a:t>
            </a:r>
            <a:r>
              <a:rPr sz="1800" b="0" i="0">
                <a:solidFill>
                  <a:srgbClr val="000000"/>
                </a:solidFill>
                <a:latin typeface="Karla"/>
              </a:rPr>
              <a:t>aggregate warehouse - port flows as a smaller LP with dual prices.</a:t>
            </a:r>
          </a:p>
          <a:p>
            <a:pPr marL="274320" indent="-256032">
              <a:lnSpc>
                <a:spcPct val="115000"/>
              </a:lnSpc>
              <a:spcAft>
                <a:spcPts val="1300"/>
              </a:spcAft>
              <a:buChar char="•"/>
            </a:pPr>
            <a:r>
              <a:rPr sz="1800" b="1" i="0">
                <a:solidFill>
                  <a:srgbClr val="000000"/>
                </a:solidFill>
                <a:latin typeface="Karla"/>
              </a:rPr>
              <a:t>Shortest Path: </a:t>
            </a:r>
            <a:r>
              <a:rPr sz="1800" b="0" i="0">
                <a:solidFill>
                  <a:srgbClr val="000000"/>
                </a:solidFill>
                <a:latin typeface="Karla"/>
              </a:rPr>
              <a:t>optimise the individual route taken through the transport network.</a:t>
            </a:r>
          </a:p>
          <a:p>
            <a:pPr marL="274320" indent="-256032">
              <a:lnSpc>
                <a:spcPct val="115000"/>
              </a:lnSpc>
              <a:spcAft>
                <a:spcPts val="1300"/>
              </a:spcAft>
              <a:buChar char="•"/>
            </a:pPr>
            <a:r>
              <a:rPr sz="1800" b="1" i="0">
                <a:solidFill>
                  <a:srgbClr val="000000"/>
                </a:solidFill>
                <a:latin typeface="Karla"/>
              </a:rPr>
              <a:t>Analytic Hierarchy Process: </a:t>
            </a:r>
            <a:r>
              <a:rPr sz="1800" b="0" i="0">
                <a:solidFill>
                  <a:srgbClr val="000000"/>
                </a:solidFill>
                <a:latin typeface="Karla"/>
              </a:rPr>
              <a:t>rank carriers on qualitative as well as quantitative criteria.</a:t>
            </a:r>
          </a:p>
          <a:p>
            <a:pPr marL="274320" indent="-256032">
              <a:lnSpc>
                <a:spcPct val="115000"/>
              </a:lnSpc>
              <a:spcAft>
                <a:spcPts val="1300"/>
              </a:spcAft>
              <a:buChar char="•"/>
            </a:pPr>
            <a:r>
              <a:rPr sz="1800" b="1" i="0">
                <a:solidFill>
                  <a:srgbClr val="000000"/>
                </a:solidFill>
                <a:latin typeface="Karla"/>
              </a:rPr>
              <a:t>Shipment Consolidation: </a:t>
            </a:r>
            <a:r>
              <a:rPr sz="1800" b="0" i="0">
                <a:solidFill>
                  <a:srgbClr val="000000"/>
                </a:solidFill>
                <a:latin typeface="Karla"/>
              </a:rPr>
              <a:t>add discrete decisions that combine orders into shared shipments.</a:t>
            </a:r>
          </a:p>
          <a:p>
            <a:pPr marL="274320" indent="-256032">
              <a:lnSpc>
                <a:spcPct val="115000"/>
              </a:lnSpc>
              <a:spcAft>
                <a:spcPts val="1300"/>
              </a:spcAft>
              <a:buChar char="•"/>
            </a:pPr>
            <a:r>
              <a:rPr sz="1800" b="1" i="0">
                <a:solidFill>
                  <a:srgbClr val="000000"/>
                </a:solidFill>
                <a:latin typeface="Karla"/>
              </a:rPr>
              <a:t>Nonlinear Programming: </a:t>
            </a:r>
            <a:r>
              <a:rPr sz="1800" b="0" i="0">
                <a:solidFill>
                  <a:srgbClr val="000000"/>
                </a:solidFill>
                <a:latin typeface="Karla"/>
              </a:rPr>
              <a:t>handle volume discounts and other nonlinear cost relationships.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0000"/>
                </a:solidFill>
                <a:latin typeface="Poppins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0" y="641908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Karla"/>
              </a:rPr>
              <a:t>Optimization of Semiconductor Supply Chain Networks |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Karla"/>
              </a:rPr>
              <a:t>[1] Brunel University London, "Supply Chain Logistics Problem Dataset," Kaggle.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Karla"/>
              </a:rPr>
              <a:t>[2] H. A. Taha, Operations Research: An Introduction, 10th ed., Pearson, 2017.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Karla"/>
              </a:rPr>
              <a:t>[3] F. S. Hillier and G. J. Lieberman, Introduction to Operations Research, 10th ed., McGraw-Hill, 2015.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Karla"/>
              </a:rPr>
              <a:t>[4] J. P. Ignizio, Goal Programming and Extensions, Lexington Books, 1976.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Karla"/>
              </a:rPr>
              <a:t>[5] Q. Huangfu and J. A. J. Hall, "Parallelizing the dual revised simplex method," Mathematical Programming Computation 10, no. 1 (2018): 119-142.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Karla"/>
              </a:rPr>
              <a:t>[6] Next.js, React, Recharts and SheetJS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